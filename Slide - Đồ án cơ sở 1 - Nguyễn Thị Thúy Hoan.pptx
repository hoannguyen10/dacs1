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4" r:id="rId4"/>
    <p:sldId id="258" r:id="rId5"/>
    <p:sldId id="261" r:id="rId6"/>
    <p:sldId id="262" r:id="rId7"/>
    <p:sldId id="283" r:id="rId8"/>
    <p:sldId id="275" r:id="rId9"/>
    <p:sldId id="285" r:id="rId10"/>
    <p:sldId id="266" r:id="rId11"/>
    <p:sldId id="268" r:id="rId12"/>
    <p:sldId id="296" r:id="rId13"/>
    <p:sldId id="277" r:id="rId14"/>
    <p:sldId id="271" r:id="rId15"/>
    <p:sldId id="293" r:id="rId16"/>
    <p:sldId id="294" r:id="rId17"/>
    <p:sldId id="295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09B20E-2A53-4AC7-B323-C1167491C297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4B278C-83BE-4153-B2AA-B69EA23A5D23}">
      <dgm:prSet phldrT="[Text]" custT="1"/>
      <dgm:spPr/>
      <dgm:t>
        <a:bodyPr/>
        <a:lstStyle/>
        <a:p>
          <a:r>
            <a: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OVERVIEW INTRODUCTION</a:t>
          </a:r>
        </a:p>
      </dgm:t>
    </dgm:pt>
    <dgm:pt modelId="{9DFA66C9-C83A-4251-8CC7-979ED6B6A98F}" type="parTrans" cxnId="{A18444BD-FE30-431B-84D5-613BB298E2C0}">
      <dgm:prSet/>
      <dgm:spPr/>
      <dgm:t>
        <a:bodyPr/>
        <a:lstStyle/>
        <a:p>
          <a:endParaRPr lang="en-US"/>
        </a:p>
      </dgm:t>
    </dgm:pt>
    <dgm:pt modelId="{F4A1CFB3-EA77-4038-B014-5DBBEFE3E2C0}" type="sibTrans" cxnId="{A18444BD-FE30-431B-84D5-613BB298E2C0}">
      <dgm:prSet/>
      <dgm:spPr/>
      <dgm:t>
        <a:bodyPr/>
        <a:lstStyle/>
        <a:p>
          <a:endParaRPr lang="en-US"/>
        </a:p>
      </dgm:t>
    </dgm:pt>
    <dgm:pt modelId="{F33375C6-381D-439E-820B-FA00239F30E3}">
      <dgm:prSet phldrT="[Text]" custT="1"/>
      <dgm:spPr/>
      <dgm:t>
        <a:bodyPr/>
        <a:lstStyle/>
        <a:p>
          <a:r>
            <a: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DESIGN ANALYSIS</a:t>
          </a:r>
        </a:p>
      </dgm:t>
    </dgm:pt>
    <dgm:pt modelId="{66C9D212-4325-49B0-A7BD-0899B3C29DE1}" type="parTrans" cxnId="{FDFF08BE-06B1-463D-A539-8A3CBCD9878A}">
      <dgm:prSet/>
      <dgm:spPr/>
      <dgm:t>
        <a:bodyPr/>
        <a:lstStyle/>
        <a:p>
          <a:endParaRPr lang="en-US"/>
        </a:p>
      </dgm:t>
    </dgm:pt>
    <dgm:pt modelId="{BAD70431-ACB5-47ED-80FF-9AAE886DFA0F}" type="sibTrans" cxnId="{FDFF08BE-06B1-463D-A539-8A3CBCD9878A}">
      <dgm:prSet/>
      <dgm:spPr/>
      <dgm:t>
        <a:bodyPr/>
        <a:lstStyle/>
        <a:p>
          <a:endParaRPr lang="en-US"/>
        </a:p>
      </dgm:t>
    </dgm:pt>
    <dgm:pt modelId="{4DC0F37D-87DE-4FCF-8375-32AFB805E48E}">
      <dgm:prSet phldrT="[Text]" custT="1"/>
      <dgm:spPr/>
      <dgm:t>
        <a:bodyPr/>
        <a:lstStyle/>
        <a:p>
          <a:r>
            <a:rPr lang="en-US" sz="32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EVALUATION </a:t>
          </a:r>
        </a:p>
      </dgm:t>
    </dgm:pt>
    <dgm:pt modelId="{9300D37A-6D35-4B55-B3D3-1BA3E9709069}" type="parTrans" cxnId="{456B5001-D273-43E5-838D-E5684674429B}">
      <dgm:prSet/>
      <dgm:spPr/>
      <dgm:t>
        <a:bodyPr/>
        <a:lstStyle/>
        <a:p>
          <a:endParaRPr lang="en-US"/>
        </a:p>
      </dgm:t>
    </dgm:pt>
    <dgm:pt modelId="{EE45989D-4FA8-4089-9033-3FBA5E052FDA}" type="sibTrans" cxnId="{456B5001-D273-43E5-838D-E5684674429B}">
      <dgm:prSet/>
      <dgm:spPr/>
      <dgm:t>
        <a:bodyPr/>
        <a:lstStyle/>
        <a:p>
          <a:endParaRPr lang="en-US"/>
        </a:p>
      </dgm:t>
    </dgm:pt>
    <dgm:pt modelId="{4C374B34-A9EE-4BAD-8845-8449F400778C}">
      <dgm:prSet phldrT="[Text]" custT="1"/>
      <dgm:spPr/>
      <dgm:t>
        <a:bodyPr/>
        <a:lstStyle/>
        <a:p>
          <a:r>
            <a:rPr lang="en-US" sz="3200" dirty="0" smtClean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CONCLUSION </a:t>
          </a:r>
          <a:endParaRPr lang="en-US" sz="3200" dirty="0">
            <a:solidFill>
              <a:schemeClr val="tx2">
                <a:lumMod val="90000"/>
                <a:lumOff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1F7022-7193-4DC5-A403-67175B48CE3B}" type="parTrans" cxnId="{109D06AF-D87E-4EB1-B5E7-BF9765662D89}">
      <dgm:prSet/>
      <dgm:spPr/>
      <dgm:t>
        <a:bodyPr/>
        <a:lstStyle/>
        <a:p>
          <a:endParaRPr lang="en-US"/>
        </a:p>
      </dgm:t>
    </dgm:pt>
    <dgm:pt modelId="{17E4EC62-B0BC-454A-8E0A-F3F7E043595C}" type="sibTrans" cxnId="{109D06AF-D87E-4EB1-B5E7-BF9765662D89}">
      <dgm:prSet/>
      <dgm:spPr/>
      <dgm:t>
        <a:bodyPr/>
        <a:lstStyle/>
        <a:p>
          <a:endParaRPr lang="en-US"/>
        </a:p>
      </dgm:t>
    </dgm:pt>
    <dgm:pt modelId="{B75AD758-BE47-481E-ADA5-1CFFAFDC9D3B}" type="pres">
      <dgm:prSet presAssocID="{7709B20E-2A53-4AC7-B323-C1167491C297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71F3E10-EC9E-4AA0-B4CC-A1A3DE6587C3}" type="pres">
      <dgm:prSet presAssocID="{3A4B278C-83BE-4153-B2AA-B69EA23A5D23}" presName="composite" presStyleCnt="0"/>
      <dgm:spPr/>
    </dgm:pt>
    <dgm:pt modelId="{A352FC00-8BCF-4341-94DB-055C76F2470A}" type="pres">
      <dgm:prSet presAssocID="{3A4B278C-83BE-4153-B2AA-B69EA23A5D23}" presName="rect1" presStyleLbl="trAlign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325C7E-C39B-4F32-8C93-C5FE95005E66}" type="pres">
      <dgm:prSet presAssocID="{3A4B278C-83BE-4153-B2AA-B69EA23A5D23}" presName="rect2" presStyleLbl="fgImgPlace1" presStyleIdx="0" presStyleCnt="4" custLinFactNeighborX="-23932" custLinFactNeighborY="665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6789" t="2526" r="-59211" b="-2526"/>
          </a:stretch>
        </a:blipFill>
      </dgm:spPr>
    </dgm:pt>
    <dgm:pt modelId="{9F6CE4A8-D71C-44E1-AB96-E523F52105DE}" type="pres">
      <dgm:prSet presAssocID="{F4A1CFB3-EA77-4038-B014-5DBBEFE3E2C0}" presName="sibTrans" presStyleCnt="0"/>
      <dgm:spPr/>
    </dgm:pt>
    <dgm:pt modelId="{D68F5CAC-DA74-4CA2-93BA-F8E78D184956}" type="pres">
      <dgm:prSet presAssocID="{F33375C6-381D-439E-820B-FA00239F30E3}" presName="composite" presStyleCnt="0"/>
      <dgm:spPr/>
    </dgm:pt>
    <dgm:pt modelId="{A5AB20F8-636A-47F2-9E64-FA126A5CCA54}" type="pres">
      <dgm:prSet presAssocID="{F33375C6-381D-439E-820B-FA00239F30E3}" presName="rect1" presStyleLbl="trAlign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E7703A-18C3-4D15-AEFC-E9E635503BEB}" type="pres">
      <dgm:prSet presAssocID="{F33375C6-381D-439E-820B-FA00239F30E3}" presName="rect2" presStyleLbl="fgImgPlace1" presStyleIdx="1" presStyleCnt="4"/>
      <dgm:spPr>
        <a:blipFill dpi="0" rotWithShape="1">
          <a:blip xmlns:r="http://schemas.openxmlformats.org/officeDocument/2006/relationships" r:embed="rId2"/>
          <a:srcRect/>
          <a:stretch>
            <a:fillRect l="-28789" t="-632" r="-21211" b="632"/>
          </a:stretch>
        </a:blipFill>
      </dgm:spPr>
    </dgm:pt>
    <dgm:pt modelId="{53392B6C-CEC1-4023-A869-B146BDD8F7D3}" type="pres">
      <dgm:prSet presAssocID="{BAD70431-ACB5-47ED-80FF-9AAE886DFA0F}" presName="sibTrans" presStyleCnt="0"/>
      <dgm:spPr/>
    </dgm:pt>
    <dgm:pt modelId="{AED36E06-1ACA-4280-8023-1B8A8FF8C9AD}" type="pres">
      <dgm:prSet presAssocID="{4DC0F37D-87DE-4FCF-8375-32AFB805E48E}" presName="composite" presStyleCnt="0"/>
      <dgm:spPr/>
    </dgm:pt>
    <dgm:pt modelId="{162A46FE-5362-42D0-9F2C-289244F32FD0}" type="pres">
      <dgm:prSet presAssocID="{4DC0F37D-87DE-4FCF-8375-32AFB805E48E}" presName="rect1" presStyleLbl="trAlignAcc1" presStyleIdx="2" presStyleCnt="4" custLinFactNeighborX="-2241" custLinFactNeighborY="152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BD57FD-C7D0-4851-AF24-EDF5F28488FD}" type="pres">
      <dgm:prSet presAssocID="{4DC0F37D-87DE-4FCF-8375-32AFB805E48E}" presName="rect2" presStyleLbl="fgImgPlace1" presStyleIdx="2" presStyleCnt="4" custLinFactNeighborX="-4457" custLinFactNeighborY="8210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4896" t="1895" r="-97104" b="-1895"/>
          </a:stretch>
        </a:blipFill>
      </dgm:spPr>
    </dgm:pt>
    <dgm:pt modelId="{CA14BFD3-C282-42DD-9F69-98E10170B0D9}" type="pres">
      <dgm:prSet presAssocID="{EE45989D-4FA8-4089-9033-3FBA5E052FDA}" presName="sibTrans" presStyleCnt="0"/>
      <dgm:spPr/>
    </dgm:pt>
    <dgm:pt modelId="{665732CF-0A61-46CB-A6B5-83E92B84F58F}" type="pres">
      <dgm:prSet presAssocID="{4C374B34-A9EE-4BAD-8845-8449F400778C}" presName="composite" presStyleCnt="0"/>
      <dgm:spPr/>
    </dgm:pt>
    <dgm:pt modelId="{441B7D27-807C-4FF4-AC51-A5F4DF92085C}" type="pres">
      <dgm:prSet presAssocID="{4C374B34-A9EE-4BAD-8845-8449F400778C}" presName="rect1" presStyleLbl="trAlignAcc1" presStyleIdx="3" presStyleCnt="4" custLinFactNeighborX="-5142" custLinFactNeighborY="122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CFC2042-4C46-4C2D-BAE5-28267C2E064D}" type="pres">
      <dgm:prSet presAssocID="{4C374B34-A9EE-4BAD-8845-8449F400778C}" presName="rect2" presStyleLbl="fgImgPlace1" presStyleIdx="3" presStyleCnt="4" custLinFactNeighborX="-11489" custLinFactNeighborY="13262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5000" r="-75000"/>
          </a:stretch>
        </a:blipFill>
      </dgm:spPr>
    </dgm:pt>
  </dgm:ptLst>
  <dgm:cxnLst>
    <dgm:cxn modelId="{1E874F7B-B08C-40E4-A409-5ED86C1307BF}" type="presOf" srcId="{4C374B34-A9EE-4BAD-8845-8449F400778C}" destId="{441B7D27-807C-4FF4-AC51-A5F4DF92085C}" srcOrd="0" destOrd="0" presId="urn:microsoft.com/office/officeart/2008/layout/PictureStrips"/>
    <dgm:cxn modelId="{7B24903E-EA75-4EDB-B5A8-F95B417038A5}" type="presOf" srcId="{3A4B278C-83BE-4153-B2AA-B69EA23A5D23}" destId="{A352FC00-8BCF-4341-94DB-055C76F2470A}" srcOrd="0" destOrd="0" presId="urn:microsoft.com/office/officeart/2008/layout/PictureStrips"/>
    <dgm:cxn modelId="{310A074B-9E0A-4849-9474-05348E284BBA}" type="presOf" srcId="{4DC0F37D-87DE-4FCF-8375-32AFB805E48E}" destId="{162A46FE-5362-42D0-9F2C-289244F32FD0}" srcOrd="0" destOrd="0" presId="urn:microsoft.com/office/officeart/2008/layout/PictureStrips"/>
    <dgm:cxn modelId="{456B5001-D273-43E5-838D-E5684674429B}" srcId="{7709B20E-2A53-4AC7-B323-C1167491C297}" destId="{4DC0F37D-87DE-4FCF-8375-32AFB805E48E}" srcOrd="2" destOrd="0" parTransId="{9300D37A-6D35-4B55-B3D3-1BA3E9709069}" sibTransId="{EE45989D-4FA8-4089-9033-3FBA5E052FDA}"/>
    <dgm:cxn modelId="{109D06AF-D87E-4EB1-B5E7-BF9765662D89}" srcId="{7709B20E-2A53-4AC7-B323-C1167491C297}" destId="{4C374B34-A9EE-4BAD-8845-8449F400778C}" srcOrd="3" destOrd="0" parTransId="{CB1F7022-7193-4DC5-A403-67175B48CE3B}" sibTransId="{17E4EC62-B0BC-454A-8E0A-F3F7E043595C}"/>
    <dgm:cxn modelId="{A18444BD-FE30-431B-84D5-613BB298E2C0}" srcId="{7709B20E-2A53-4AC7-B323-C1167491C297}" destId="{3A4B278C-83BE-4153-B2AA-B69EA23A5D23}" srcOrd="0" destOrd="0" parTransId="{9DFA66C9-C83A-4251-8CC7-979ED6B6A98F}" sibTransId="{F4A1CFB3-EA77-4038-B014-5DBBEFE3E2C0}"/>
    <dgm:cxn modelId="{C35AA6E2-F077-4811-B0FD-B18C0C3D80E1}" type="presOf" srcId="{7709B20E-2A53-4AC7-B323-C1167491C297}" destId="{B75AD758-BE47-481E-ADA5-1CFFAFDC9D3B}" srcOrd="0" destOrd="0" presId="urn:microsoft.com/office/officeart/2008/layout/PictureStrips"/>
    <dgm:cxn modelId="{FDFF08BE-06B1-463D-A539-8A3CBCD9878A}" srcId="{7709B20E-2A53-4AC7-B323-C1167491C297}" destId="{F33375C6-381D-439E-820B-FA00239F30E3}" srcOrd="1" destOrd="0" parTransId="{66C9D212-4325-49B0-A7BD-0899B3C29DE1}" sibTransId="{BAD70431-ACB5-47ED-80FF-9AAE886DFA0F}"/>
    <dgm:cxn modelId="{ED186D25-00C9-4772-B35D-670F4F0151DD}" type="presOf" srcId="{F33375C6-381D-439E-820B-FA00239F30E3}" destId="{A5AB20F8-636A-47F2-9E64-FA126A5CCA54}" srcOrd="0" destOrd="0" presId="urn:microsoft.com/office/officeart/2008/layout/PictureStrips"/>
    <dgm:cxn modelId="{79634CAE-7212-4CDA-94C5-E939F6EEDC1A}" type="presParOf" srcId="{B75AD758-BE47-481E-ADA5-1CFFAFDC9D3B}" destId="{571F3E10-EC9E-4AA0-B4CC-A1A3DE6587C3}" srcOrd="0" destOrd="0" presId="urn:microsoft.com/office/officeart/2008/layout/PictureStrips"/>
    <dgm:cxn modelId="{AD504A42-4D48-4F76-B1A5-93032794F7BE}" type="presParOf" srcId="{571F3E10-EC9E-4AA0-B4CC-A1A3DE6587C3}" destId="{A352FC00-8BCF-4341-94DB-055C76F2470A}" srcOrd="0" destOrd="0" presId="urn:microsoft.com/office/officeart/2008/layout/PictureStrips"/>
    <dgm:cxn modelId="{8EAD1C46-439B-44CE-A098-520871F7D93F}" type="presParOf" srcId="{571F3E10-EC9E-4AA0-B4CC-A1A3DE6587C3}" destId="{03325C7E-C39B-4F32-8C93-C5FE95005E66}" srcOrd="1" destOrd="0" presId="urn:microsoft.com/office/officeart/2008/layout/PictureStrips"/>
    <dgm:cxn modelId="{CA464B50-E6B9-4CB5-949A-5B529C59D073}" type="presParOf" srcId="{B75AD758-BE47-481E-ADA5-1CFFAFDC9D3B}" destId="{9F6CE4A8-D71C-44E1-AB96-E523F52105DE}" srcOrd="1" destOrd="0" presId="urn:microsoft.com/office/officeart/2008/layout/PictureStrips"/>
    <dgm:cxn modelId="{9B615306-DA97-4F78-AE0C-FCFD6237ABC4}" type="presParOf" srcId="{B75AD758-BE47-481E-ADA5-1CFFAFDC9D3B}" destId="{D68F5CAC-DA74-4CA2-93BA-F8E78D184956}" srcOrd="2" destOrd="0" presId="urn:microsoft.com/office/officeart/2008/layout/PictureStrips"/>
    <dgm:cxn modelId="{EC104017-BEA3-4A65-89EC-A9A99326804B}" type="presParOf" srcId="{D68F5CAC-DA74-4CA2-93BA-F8E78D184956}" destId="{A5AB20F8-636A-47F2-9E64-FA126A5CCA54}" srcOrd="0" destOrd="0" presId="urn:microsoft.com/office/officeart/2008/layout/PictureStrips"/>
    <dgm:cxn modelId="{614DD132-2243-4AF2-8809-98077F666EB8}" type="presParOf" srcId="{D68F5CAC-DA74-4CA2-93BA-F8E78D184956}" destId="{6CE7703A-18C3-4D15-AEFC-E9E635503BEB}" srcOrd="1" destOrd="0" presId="urn:microsoft.com/office/officeart/2008/layout/PictureStrips"/>
    <dgm:cxn modelId="{FEE5981B-120F-4A10-AD10-2AEE00EF25DD}" type="presParOf" srcId="{B75AD758-BE47-481E-ADA5-1CFFAFDC9D3B}" destId="{53392B6C-CEC1-4023-A869-B146BDD8F7D3}" srcOrd="3" destOrd="0" presId="urn:microsoft.com/office/officeart/2008/layout/PictureStrips"/>
    <dgm:cxn modelId="{2C25A7F0-71C1-4E9D-8206-AEA9209FB7AC}" type="presParOf" srcId="{B75AD758-BE47-481E-ADA5-1CFFAFDC9D3B}" destId="{AED36E06-1ACA-4280-8023-1B8A8FF8C9AD}" srcOrd="4" destOrd="0" presId="urn:microsoft.com/office/officeart/2008/layout/PictureStrips"/>
    <dgm:cxn modelId="{8F609C4C-61F9-45E7-BC32-EC487257E3BA}" type="presParOf" srcId="{AED36E06-1ACA-4280-8023-1B8A8FF8C9AD}" destId="{162A46FE-5362-42D0-9F2C-289244F32FD0}" srcOrd="0" destOrd="0" presId="urn:microsoft.com/office/officeart/2008/layout/PictureStrips"/>
    <dgm:cxn modelId="{91779920-1C4B-4E61-9459-4D83A011E07C}" type="presParOf" srcId="{AED36E06-1ACA-4280-8023-1B8A8FF8C9AD}" destId="{D2BD57FD-C7D0-4851-AF24-EDF5F28488FD}" srcOrd="1" destOrd="0" presId="urn:microsoft.com/office/officeart/2008/layout/PictureStrips"/>
    <dgm:cxn modelId="{C1BB06F1-F871-4FAA-8718-8EE1CD97173C}" type="presParOf" srcId="{B75AD758-BE47-481E-ADA5-1CFFAFDC9D3B}" destId="{CA14BFD3-C282-42DD-9F69-98E10170B0D9}" srcOrd="5" destOrd="0" presId="urn:microsoft.com/office/officeart/2008/layout/PictureStrips"/>
    <dgm:cxn modelId="{DD814B3E-4C3F-459D-992D-FB5AC4C72AB3}" type="presParOf" srcId="{B75AD758-BE47-481E-ADA5-1CFFAFDC9D3B}" destId="{665732CF-0A61-46CB-A6B5-83E92B84F58F}" srcOrd="6" destOrd="0" presId="urn:microsoft.com/office/officeart/2008/layout/PictureStrips"/>
    <dgm:cxn modelId="{AAF1BB4F-9211-4B4D-B839-B50AF8BAB3C5}" type="presParOf" srcId="{665732CF-0A61-46CB-A6B5-83E92B84F58F}" destId="{441B7D27-807C-4FF4-AC51-A5F4DF92085C}" srcOrd="0" destOrd="0" presId="urn:microsoft.com/office/officeart/2008/layout/PictureStrips"/>
    <dgm:cxn modelId="{39532BFB-574C-4968-A317-A2212D18810F}" type="presParOf" srcId="{665732CF-0A61-46CB-A6B5-83E92B84F58F}" destId="{8CFC2042-4C46-4C2D-BAE5-28267C2E064D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52FC00-8BCF-4341-94DB-055C76F2470A}">
      <dsp:nvSpPr>
        <dsp:cNvPr id="0" name=""/>
        <dsp:cNvSpPr/>
      </dsp:nvSpPr>
      <dsp:spPr>
        <a:xfrm>
          <a:off x="202472" y="924920"/>
          <a:ext cx="4796523" cy="149891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5264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OVERVIEW INTRODUCTION</a:t>
          </a:r>
        </a:p>
      </dsp:txBody>
      <dsp:txXfrm>
        <a:off x="202472" y="924920"/>
        <a:ext cx="4796523" cy="1498913"/>
      </dsp:txXfrm>
    </dsp:sp>
    <dsp:sp modelId="{03325C7E-C39B-4F32-8C93-C5FE95005E66}">
      <dsp:nvSpPr>
        <dsp:cNvPr id="0" name=""/>
        <dsp:cNvSpPr/>
      </dsp:nvSpPr>
      <dsp:spPr>
        <a:xfrm>
          <a:off x="0" y="718877"/>
          <a:ext cx="1049239" cy="1573859"/>
        </a:xfrm>
        <a:prstGeom prst="rect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6789" t="2526" r="-59211" b="-2526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AB20F8-636A-47F2-9E64-FA126A5CCA54}">
      <dsp:nvSpPr>
        <dsp:cNvPr id="0" name=""/>
        <dsp:cNvSpPr/>
      </dsp:nvSpPr>
      <dsp:spPr>
        <a:xfrm>
          <a:off x="5443684" y="924920"/>
          <a:ext cx="4796523" cy="149891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5264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DESIGN ANALYSIS</a:t>
          </a:r>
        </a:p>
      </dsp:txBody>
      <dsp:txXfrm>
        <a:off x="5443684" y="924920"/>
        <a:ext cx="4796523" cy="1498913"/>
      </dsp:txXfrm>
    </dsp:sp>
    <dsp:sp modelId="{6CE7703A-18C3-4D15-AEFC-E9E635503BEB}">
      <dsp:nvSpPr>
        <dsp:cNvPr id="0" name=""/>
        <dsp:cNvSpPr/>
      </dsp:nvSpPr>
      <dsp:spPr>
        <a:xfrm>
          <a:off x="5243829" y="708411"/>
          <a:ext cx="1049239" cy="1573859"/>
        </a:xfrm>
        <a:prstGeom prst="rect">
          <a:avLst/>
        </a:prstGeom>
        <a:blipFill dpi="0" rotWithShape="1">
          <a:blip xmlns:r="http://schemas.openxmlformats.org/officeDocument/2006/relationships" r:embed="rId2"/>
          <a:srcRect/>
          <a:stretch>
            <a:fillRect l="-28789" t="-632" r="-21211" b="632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2A46FE-5362-42D0-9F2C-289244F32FD0}">
      <dsp:nvSpPr>
        <dsp:cNvPr id="0" name=""/>
        <dsp:cNvSpPr/>
      </dsp:nvSpPr>
      <dsp:spPr>
        <a:xfrm>
          <a:off x="94982" y="3040500"/>
          <a:ext cx="4796523" cy="149891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5264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EVALUATION </a:t>
          </a:r>
        </a:p>
      </dsp:txBody>
      <dsp:txXfrm>
        <a:off x="94982" y="3040500"/>
        <a:ext cx="4796523" cy="1498913"/>
      </dsp:txXfrm>
    </dsp:sp>
    <dsp:sp modelId="{D2BD57FD-C7D0-4851-AF24-EDF5F28488FD}">
      <dsp:nvSpPr>
        <dsp:cNvPr id="0" name=""/>
        <dsp:cNvSpPr/>
      </dsp:nvSpPr>
      <dsp:spPr>
        <a:xfrm>
          <a:off x="0" y="2724590"/>
          <a:ext cx="1049239" cy="1573859"/>
        </a:xfrm>
        <a:prstGeom prst="rect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4896" t="1895" r="-97104" b="-1895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B7D27-807C-4FF4-AC51-A5F4DF92085C}">
      <dsp:nvSpPr>
        <dsp:cNvPr id="0" name=""/>
        <dsp:cNvSpPr/>
      </dsp:nvSpPr>
      <dsp:spPr>
        <a:xfrm>
          <a:off x="5197047" y="2996207"/>
          <a:ext cx="4796523" cy="149891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5264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>
              <a:solidFill>
                <a:schemeClr val="tx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CONCLUSION </a:t>
          </a:r>
          <a:endParaRPr lang="en-US" sz="3200" kern="1200" dirty="0">
            <a:solidFill>
              <a:schemeClr val="tx2">
                <a:lumMod val="90000"/>
                <a:lumOff val="10000"/>
              </a:schemeClr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97047" y="2996207"/>
        <a:ext cx="4796523" cy="1498913"/>
      </dsp:txXfrm>
    </dsp:sp>
    <dsp:sp modelId="{8CFC2042-4C46-4C2D-BAE5-28267C2E064D}">
      <dsp:nvSpPr>
        <dsp:cNvPr id="0" name=""/>
        <dsp:cNvSpPr/>
      </dsp:nvSpPr>
      <dsp:spPr>
        <a:xfrm>
          <a:off x="5123282" y="2804101"/>
          <a:ext cx="1049239" cy="1573859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5000" r="-7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72F336-A9E5-4D04-BEA3-A7A01157DDD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B442A-838C-4C27-914D-D1E1EF7361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52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B442A-838C-4C27-914D-D1E1EF7361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16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B442A-838C-4C27-914D-D1E1EF7361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28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B442A-838C-4C27-914D-D1E1EF73613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757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6F4C5-422B-9825-4732-C4288EBB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FBB5F-687A-4944-F273-D1B382E20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031A0-4C2D-883F-8A85-79EECD1A4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087A-F268-485E-963A-02361775A9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5C791-23E2-8B2F-131F-9963069A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0FA6A-0FC8-94E6-3CDF-79AE815DB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1BF-566F-401F-A624-76F29A5C312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BD04BAB-52EE-6A9E-3053-3ED7D9FCD464}"/>
              </a:ext>
            </a:extLst>
          </p:cNvPr>
          <p:cNvSpPr/>
          <p:nvPr userDrawn="1"/>
        </p:nvSpPr>
        <p:spPr>
          <a:xfrm>
            <a:off x="0" y="0"/>
            <a:ext cx="12210473" cy="6881091"/>
          </a:xfrm>
          <a:custGeom>
            <a:avLst/>
            <a:gdLst>
              <a:gd name="connsiteX0" fmla="*/ 0 w 12210473"/>
              <a:gd name="connsiteY0" fmla="*/ 4239491 h 6881091"/>
              <a:gd name="connsiteX1" fmla="*/ 5874327 w 12210473"/>
              <a:gd name="connsiteY1" fmla="*/ 0 h 6881091"/>
              <a:gd name="connsiteX2" fmla="*/ 12210473 w 12210473"/>
              <a:gd name="connsiteY2" fmla="*/ 18473 h 6881091"/>
              <a:gd name="connsiteX3" fmla="*/ 12210473 w 12210473"/>
              <a:gd name="connsiteY3" fmla="*/ 3352800 h 6881091"/>
              <a:gd name="connsiteX4" fmla="*/ 8478982 w 12210473"/>
              <a:gd name="connsiteY4" fmla="*/ 6881091 h 6881091"/>
              <a:gd name="connsiteX5" fmla="*/ 9236 w 12210473"/>
              <a:gd name="connsiteY5" fmla="*/ 6853382 h 6881091"/>
              <a:gd name="connsiteX6" fmla="*/ 0 w 12210473"/>
              <a:gd name="connsiteY6" fmla="*/ 4239491 h 6881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10473" h="6881091">
                <a:moveTo>
                  <a:pt x="0" y="4239491"/>
                </a:moveTo>
                <a:lnTo>
                  <a:pt x="5874327" y="0"/>
                </a:lnTo>
                <a:lnTo>
                  <a:pt x="12210473" y="18473"/>
                </a:lnTo>
                <a:lnTo>
                  <a:pt x="12210473" y="3352800"/>
                </a:lnTo>
                <a:lnTo>
                  <a:pt x="8478982" y="6881091"/>
                </a:lnTo>
                <a:lnTo>
                  <a:pt x="9236" y="6853382"/>
                </a:lnTo>
                <a:cubicBezTo>
                  <a:pt x="6157" y="5982085"/>
                  <a:pt x="3079" y="5110788"/>
                  <a:pt x="0" y="4239491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vi-V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/>
            </a:r>
            <a:br>
              <a:rPr lang="vi-V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vi-V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/>
            </a:r>
            <a:br>
              <a:rPr lang="vi-VN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C147F2D-B3B7-2063-1915-A5C178241E2E}"/>
              </a:ext>
            </a:extLst>
          </p:cNvPr>
          <p:cNvSpPr/>
          <p:nvPr userDrawn="1"/>
        </p:nvSpPr>
        <p:spPr>
          <a:xfrm>
            <a:off x="9236" y="0"/>
            <a:ext cx="5902037" cy="4248727"/>
          </a:xfrm>
          <a:custGeom>
            <a:avLst/>
            <a:gdLst>
              <a:gd name="connsiteX0" fmla="*/ 0 w 5902037"/>
              <a:gd name="connsiteY0" fmla="*/ 3805382 h 4248727"/>
              <a:gd name="connsiteX1" fmla="*/ 5412509 w 5902037"/>
              <a:gd name="connsiteY1" fmla="*/ 0 h 4248727"/>
              <a:gd name="connsiteX2" fmla="*/ 5902037 w 5902037"/>
              <a:gd name="connsiteY2" fmla="*/ 9236 h 4248727"/>
              <a:gd name="connsiteX3" fmla="*/ 18473 w 5902037"/>
              <a:gd name="connsiteY3" fmla="*/ 4248727 h 4248727"/>
              <a:gd name="connsiteX4" fmla="*/ 0 w 5902037"/>
              <a:gd name="connsiteY4" fmla="*/ 3805382 h 4248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2037" h="4248727">
                <a:moveTo>
                  <a:pt x="0" y="3805382"/>
                </a:moveTo>
                <a:lnTo>
                  <a:pt x="5412509" y="0"/>
                </a:lnTo>
                <a:lnTo>
                  <a:pt x="5902037" y="9236"/>
                </a:lnTo>
                <a:lnTo>
                  <a:pt x="18473" y="4248727"/>
                </a:lnTo>
                <a:lnTo>
                  <a:pt x="0" y="3805382"/>
                </a:lnTo>
                <a:close/>
              </a:path>
            </a:pathLst>
          </a:cu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3D0BC34-06FA-D4DF-CEE6-89720197D35C}"/>
              </a:ext>
            </a:extLst>
          </p:cNvPr>
          <p:cNvSpPr/>
          <p:nvPr userDrawn="1"/>
        </p:nvSpPr>
        <p:spPr>
          <a:xfrm>
            <a:off x="8506691" y="3380509"/>
            <a:ext cx="3676073" cy="3500582"/>
          </a:xfrm>
          <a:custGeom>
            <a:avLst/>
            <a:gdLst>
              <a:gd name="connsiteX0" fmla="*/ 0 w 3676073"/>
              <a:gd name="connsiteY0" fmla="*/ 3472873 h 3500582"/>
              <a:gd name="connsiteX1" fmla="*/ 3666836 w 3676073"/>
              <a:gd name="connsiteY1" fmla="*/ 0 h 3500582"/>
              <a:gd name="connsiteX2" fmla="*/ 3676073 w 3676073"/>
              <a:gd name="connsiteY2" fmla="*/ 295564 h 3500582"/>
              <a:gd name="connsiteX3" fmla="*/ 406400 w 3676073"/>
              <a:gd name="connsiteY3" fmla="*/ 3500582 h 3500582"/>
              <a:gd name="connsiteX4" fmla="*/ 0 w 3676073"/>
              <a:gd name="connsiteY4" fmla="*/ 3472873 h 350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6073" h="3500582">
                <a:moveTo>
                  <a:pt x="0" y="3472873"/>
                </a:moveTo>
                <a:lnTo>
                  <a:pt x="3666836" y="0"/>
                </a:lnTo>
                <a:lnTo>
                  <a:pt x="3676073" y="295564"/>
                </a:lnTo>
                <a:lnTo>
                  <a:pt x="406400" y="3500582"/>
                </a:lnTo>
                <a:lnTo>
                  <a:pt x="0" y="3472873"/>
                </a:lnTo>
                <a:close/>
              </a:path>
            </a:pathLst>
          </a:cu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8CE2B618-35B9-2EFC-C921-C64B5378A77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1" y="102962"/>
            <a:ext cx="2034308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ACD5C92-8C84-C7FC-3186-46F3B82E15D2}"/>
              </a:ext>
            </a:extLst>
          </p:cNvPr>
          <p:cNvSpPr txBox="1"/>
          <p:nvPr userDrawn="1"/>
        </p:nvSpPr>
        <p:spPr>
          <a:xfrm>
            <a:off x="484803" y="1026292"/>
            <a:ext cx="16348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http://vku.udn.vn</a:t>
            </a:r>
            <a:endParaRPr lang="en-US" sz="1200" b="0">
              <a:effectLst/>
            </a:endParaRPr>
          </a:p>
          <a:p>
            <a:r>
              <a:rPr lang="en-US"/>
              <a:t/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24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FDF6C-D8BE-1A62-B940-3EED5E8CC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087A-F268-485E-963A-02361775A9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8DCBB-6E62-4637-2C33-DB7A01E35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2E58E-0168-C3DE-8538-224CB0D18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1BF-566F-401F-A624-76F29A5C312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C15DED2-CDF6-ACF6-EAF2-D4ECE1E0B535}"/>
              </a:ext>
            </a:extLst>
          </p:cNvPr>
          <p:cNvSpPr txBox="1">
            <a:spLocks/>
          </p:cNvSpPr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B136BDC-8CA7-4F01-9058-98D8295871E9}" type="datetimeFigureOut">
              <a:rPr lang="en-US" smtClean="0"/>
              <a:pPr/>
              <a:t>6/26/2025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9D44263-15FC-5308-3329-35E062A3247E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AE1C4F5-C301-4418-A185-58C9CD6AE8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E485A7-1E0B-8F23-A0FF-C5C78E031EE6}"/>
              </a:ext>
            </a:extLst>
          </p:cNvPr>
          <p:cNvSpPr/>
          <p:nvPr userDrawn="1"/>
        </p:nvSpPr>
        <p:spPr>
          <a:xfrm>
            <a:off x="-60037" y="3114964"/>
            <a:ext cx="4313382" cy="3777673"/>
          </a:xfrm>
          <a:custGeom>
            <a:avLst/>
            <a:gdLst>
              <a:gd name="connsiteX0" fmla="*/ 55418 w 4313382"/>
              <a:gd name="connsiteY0" fmla="*/ 341746 h 3777673"/>
              <a:gd name="connsiteX1" fmla="*/ 387927 w 4313382"/>
              <a:gd name="connsiteY1" fmla="*/ 0 h 3777673"/>
              <a:gd name="connsiteX2" fmla="*/ 387927 w 4313382"/>
              <a:gd name="connsiteY2" fmla="*/ 3343564 h 3777673"/>
              <a:gd name="connsiteX3" fmla="*/ 3805382 w 4313382"/>
              <a:gd name="connsiteY3" fmla="*/ 3362037 h 3777673"/>
              <a:gd name="connsiteX4" fmla="*/ 4313382 w 4313382"/>
              <a:gd name="connsiteY4" fmla="*/ 3749964 h 3777673"/>
              <a:gd name="connsiteX5" fmla="*/ 0 w 4313382"/>
              <a:gd name="connsiteY5" fmla="*/ 3777673 h 3777673"/>
              <a:gd name="connsiteX6" fmla="*/ 55418 w 4313382"/>
              <a:gd name="connsiteY6" fmla="*/ 341746 h 3777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13382" h="3777673">
                <a:moveTo>
                  <a:pt x="55418" y="341746"/>
                </a:moveTo>
                <a:lnTo>
                  <a:pt x="387927" y="0"/>
                </a:lnTo>
                <a:lnTo>
                  <a:pt x="387927" y="3343564"/>
                </a:lnTo>
                <a:lnTo>
                  <a:pt x="3805382" y="3362037"/>
                </a:lnTo>
                <a:lnTo>
                  <a:pt x="4313382" y="3749964"/>
                </a:lnTo>
                <a:lnTo>
                  <a:pt x="0" y="3777673"/>
                </a:lnTo>
                <a:lnTo>
                  <a:pt x="55418" y="341746"/>
                </a:lnTo>
                <a:close/>
              </a:path>
            </a:pathLst>
          </a:cu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A823B83-1472-4E74-07C7-8312ABB08D13}"/>
              </a:ext>
            </a:extLst>
          </p:cNvPr>
          <p:cNvSpPr/>
          <p:nvPr userDrawn="1"/>
        </p:nvSpPr>
        <p:spPr>
          <a:xfrm>
            <a:off x="6340763" y="2310"/>
            <a:ext cx="5846618" cy="2872509"/>
          </a:xfrm>
          <a:custGeom>
            <a:avLst/>
            <a:gdLst>
              <a:gd name="connsiteX0" fmla="*/ 0 w 5846618"/>
              <a:gd name="connsiteY0" fmla="*/ 369454 h 2872509"/>
              <a:gd name="connsiteX1" fmla="*/ 544945 w 5846618"/>
              <a:gd name="connsiteY1" fmla="*/ 9236 h 2872509"/>
              <a:gd name="connsiteX2" fmla="*/ 5837382 w 5846618"/>
              <a:gd name="connsiteY2" fmla="*/ 0 h 2872509"/>
              <a:gd name="connsiteX3" fmla="*/ 5846618 w 5846618"/>
              <a:gd name="connsiteY3" fmla="*/ 2872509 h 2872509"/>
              <a:gd name="connsiteX4" fmla="*/ 5495636 w 5846618"/>
              <a:gd name="connsiteY4" fmla="*/ 2438400 h 2872509"/>
              <a:gd name="connsiteX5" fmla="*/ 5495636 w 5846618"/>
              <a:gd name="connsiteY5" fmla="*/ 369454 h 2872509"/>
              <a:gd name="connsiteX6" fmla="*/ 0 w 5846618"/>
              <a:gd name="connsiteY6" fmla="*/ 369454 h 2872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46618" h="2872509">
                <a:moveTo>
                  <a:pt x="0" y="369454"/>
                </a:moveTo>
                <a:lnTo>
                  <a:pt x="544945" y="9236"/>
                </a:lnTo>
                <a:lnTo>
                  <a:pt x="5837382" y="0"/>
                </a:lnTo>
                <a:cubicBezTo>
                  <a:pt x="5840461" y="957503"/>
                  <a:pt x="5843539" y="1915006"/>
                  <a:pt x="5846618" y="2872509"/>
                </a:cubicBezTo>
                <a:lnTo>
                  <a:pt x="5495636" y="2438400"/>
                </a:lnTo>
                <a:lnTo>
                  <a:pt x="5495636" y="369454"/>
                </a:lnTo>
                <a:lnTo>
                  <a:pt x="0" y="369454"/>
                </a:lnTo>
                <a:close/>
              </a:path>
            </a:pathLst>
          </a:custGeom>
          <a:solidFill>
            <a:srgbClr val="FFFF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5593EE-8434-B9B1-9BD1-459A32657D3E}"/>
              </a:ext>
            </a:extLst>
          </p:cNvPr>
          <p:cNvSpPr/>
          <p:nvPr userDrawn="1"/>
        </p:nvSpPr>
        <p:spPr>
          <a:xfrm>
            <a:off x="346363" y="371763"/>
            <a:ext cx="11499273" cy="6114474"/>
          </a:xfrm>
          <a:prstGeom prst="rect">
            <a:avLst/>
          </a:prstGeom>
          <a:noFill/>
          <a:ln>
            <a:solidFill>
              <a:srgbClr val="FFFF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">
            <a:extLst>
              <a:ext uri="{FF2B5EF4-FFF2-40B4-BE49-F238E27FC236}">
                <a16:creationId xmlns:a16="http://schemas.microsoft.com/office/drawing/2014/main" id="{7FD857C9-2B33-7933-19CF-3C5B22C0B1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36" y="432035"/>
            <a:ext cx="2034308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7BE1A4A-830B-16B3-4F9F-4B900FD29E8F}"/>
              </a:ext>
            </a:extLst>
          </p:cNvPr>
          <p:cNvSpPr txBox="1"/>
          <p:nvPr userDrawn="1"/>
        </p:nvSpPr>
        <p:spPr>
          <a:xfrm>
            <a:off x="891308" y="1355365"/>
            <a:ext cx="16348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http://vku.udn.vn</a:t>
            </a:r>
            <a:endParaRPr lang="en-US" sz="1200" b="0">
              <a:effectLst/>
            </a:endParaRPr>
          </a:p>
          <a:p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B81231-741D-A8F9-DFD3-F1A5C78DDF1E}"/>
              </a:ext>
            </a:extLst>
          </p:cNvPr>
          <p:cNvSpPr txBox="1"/>
          <p:nvPr userDrawn="1"/>
        </p:nvSpPr>
        <p:spPr>
          <a:xfrm>
            <a:off x="251473" y="6546509"/>
            <a:ext cx="4313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 án cơ sở 1</a:t>
            </a:r>
            <a:endParaRPr lang="en-US" sz="12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288FC76-B98C-370A-0320-1E75855F4883}"/>
              </a:ext>
            </a:extLst>
          </p:cNvPr>
          <p:cNvCxnSpPr/>
          <p:nvPr userDrawn="1"/>
        </p:nvCxnSpPr>
        <p:spPr>
          <a:xfrm>
            <a:off x="3581400" y="1224952"/>
            <a:ext cx="78744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itle 1">
            <a:extLst>
              <a:ext uri="{FF2B5EF4-FFF2-40B4-BE49-F238E27FC236}">
                <a16:creationId xmlns:a16="http://schemas.microsoft.com/office/drawing/2014/main" id="{DDE93F7B-C8E5-CA37-E5CB-ED8CDFBDB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432035"/>
            <a:ext cx="8030793" cy="792918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55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17627-F24D-9698-90A0-4D712A520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709EC-8AF1-D8DE-892A-863E12F7B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08469-BE6F-47FA-73E2-76760D8C5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087A-F268-485E-963A-02361775A9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3882C-E848-1690-3986-566F91D0F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FF4CC-3B30-05F8-CB1C-B6445A3E9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1BF-566F-401F-A624-76F29A5C3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3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D21F5-5CB2-506E-D52C-7F217FDF3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5946C-E123-D320-FA63-61D778FED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8860F9-5398-B8C5-D18A-34C183F21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44BF5-4639-078F-9F17-A815D70C7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087A-F268-485E-963A-02361775A9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8FFC6-9EC2-7214-F797-417A61AA0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294C9-80D1-D378-7893-016A448FF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1BF-566F-401F-A624-76F29A5C3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690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10A08-2E93-2AB2-687C-6EABE865E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27116-2AD5-A609-F8B0-5D6BDED10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E2A59-016C-5375-A58B-A69C13B370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B3C9B-91F7-7CEA-DB6F-E5E376A9C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A15C3E-E835-0C52-7A6B-1840DEBC27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7B013F-6441-20E8-2498-466487C3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087A-F268-485E-963A-02361775A9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B460C2-E76C-9CF0-F83E-84667B645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906208-E0E1-8052-039B-B9097A989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1BF-566F-401F-A624-76F29A5C3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2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BFDC7-E79B-4252-EC0A-48AEDAA2C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5D01B-85F8-4D1E-4814-8ECAAB90B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087A-F268-485E-963A-02361775A9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179EF-3EBC-A4B9-3A60-B1A4A2DE1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AB30D-2FAF-112C-3F77-811A74E97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1BF-566F-401F-A624-76F29A5C3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6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C75FDD-9746-3917-14B9-8728ACAEE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087A-F268-485E-963A-02361775A9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2604E-074C-D63C-DC38-9233E83F5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6B709-D978-193C-AFC0-95D4985AE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1BF-566F-401F-A624-76F29A5C3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919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C5E78-9475-A8B2-E979-C223CD8D3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59DEB-BA6B-ACDA-858B-0FE49ADF8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191C99-F0C7-51A9-D230-846C67413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39D63-77FE-52AF-4758-1A71D0EA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087A-F268-485E-963A-02361775A9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056F9-EC38-0CF2-6B1F-B8150FDA8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5C674-8D7A-906E-BDE5-ECD213B2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1BF-566F-401F-A624-76F29A5C3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27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8AB23-23B6-FFB5-044F-270CB6555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D0AEE3-C5CE-CD0B-26EB-C59C94735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9FE72-D90A-A507-7A37-82AE02A96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6790FC-8F07-62AD-6670-5BD4C0F55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087A-F268-485E-963A-02361775A9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506EC-4309-BDD2-A471-6F57759BB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384A3-0DE6-4594-2551-56F0F4D0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1BF-566F-401F-A624-76F29A5C3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4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62B2-DCAC-FED7-9B99-D7F1C062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6A4D6-E5D3-1DDA-A154-52374372E7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1E963-E3C2-F935-B1DA-2746ECFCB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087A-F268-485E-963A-02361775A9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8AC7C-8F9F-9590-A9A2-A6B853D6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8B20-6072-9228-77C2-F1F8CC6E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1BF-566F-401F-A624-76F29A5C3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49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1BB29C-312C-6E96-82D7-EC1B0FCBF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10CDE8-5128-CC8D-C2D8-5859A4FFD4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D15C5-C643-CB3C-5BC5-592962331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7087A-F268-485E-963A-02361775A9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63EFB-25C4-0965-AE5E-B9505B87B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18236-3516-8461-CF50-CCBDE670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1BF-566F-401F-A624-76F29A5C3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970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D1687-D2DC-7307-D2C2-427DE1943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219F5-2A39-C1BD-A67B-EEADA28B6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91013-0052-4D45-D2BC-72579F0F7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07087A-F268-485E-963A-02361775A9CE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22DBE-9645-C75A-093F-83B4FADF8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7CE7B-9E6B-D02B-C9F7-3E1FDC675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CF1BF-566F-401F-A624-76F29A5C312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6F8FE5-19A6-E6F6-DAEF-59123FAECEA2}"/>
              </a:ext>
            </a:extLst>
          </p:cNvPr>
          <p:cNvSpPr txBox="1"/>
          <p:nvPr userDrawn="1"/>
        </p:nvSpPr>
        <p:spPr>
          <a:xfrm>
            <a:off x="484803" y="1026292"/>
            <a:ext cx="16348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2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http://vku.udn.vn</a:t>
            </a:r>
            <a:endParaRPr lang="en-US" sz="1200" b="0">
              <a:effectLst/>
            </a:endParaRPr>
          </a:p>
          <a:p>
            <a:r>
              <a:rPr lang="en-US"/>
              <a:t/>
            </a: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51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F3DDA-2E31-9A80-66FA-DB15C6342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8968" y="262507"/>
            <a:ext cx="6810429" cy="1325563"/>
          </a:xfrm>
        </p:spPr>
        <p:txBody>
          <a:bodyPr>
            <a:norm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VIETNAM - KOREA UNIVERSITY OF INFORMATION AND</a:t>
            </a:r>
            <a:b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COMMUNICATION TECHNOLOGY </a:t>
            </a:r>
            <a:b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800" b="1" kern="100" dirty="0"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DEPARTMENT OF COMPUTER SCIENCE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FCD101-7F8E-0FA1-B346-BB0E8D759056}"/>
              </a:ext>
            </a:extLst>
          </p:cNvPr>
          <p:cNvSpPr txBox="1"/>
          <p:nvPr/>
        </p:nvSpPr>
        <p:spPr>
          <a:xfrm>
            <a:off x="3922123" y="1336909"/>
            <a:ext cx="7401385" cy="1488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600" b="1" dirty="0">
                <a:solidFill>
                  <a:srgbClr val="FF0000"/>
                </a:solidFill>
                <a:latin typeface="+mj-lt"/>
              </a:rPr>
              <a:t>B</a:t>
            </a:r>
            <a:r>
              <a:rPr lang="en-US" sz="6600" b="1" dirty="0" smtClean="0">
                <a:solidFill>
                  <a:srgbClr val="FF0000"/>
                </a:solidFill>
                <a:latin typeface="+mj-lt"/>
              </a:rPr>
              <a:t>ASIC</a:t>
            </a:r>
            <a:r>
              <a:rPr lang="vi-VN" sz="5600" b="1" dirty="0" smtClean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6600" b="1" dirty="0" smtClean="0">
                <a:solidFill>
                  <a:srgbClr val="FF0000"/>
                </a:solidFill>
                <a:latin typeface="+mj-lt"/>
              </a:rPr>
              <a:t>PROJECT</a:t>
            </a:r>
            <a:r>
              <a:rPr lang="en-US" sz="56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6600" b="1" dirty="0" smtClean="0">
                <a:solidFill>
                  <a:srgbClr val="FF0000"/>
                </a:solidFill>
                <a:latin typeface="+mj-lt"/>
              </a:rPr>
              <a:t>1</a:t>
            </a:r>
            <a:endParaRPr lang="en-US" sz="56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43FFA7-368E-4E14-69F6-319686870236}"/>
              </a:ext>
            </a:extLst>
          </p:cNvPr>
          <p:cNvSpPr txBox="1"/>
          <p:nvPr/>
        </p:nvSpPr>
        <p:spPr>
          <a:xfrm>
            <a:off x="3922123" y="4108570"/>
            <a:ext cx="6653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+mj-lt"/>
              </a:rPr>
              <a:t>Students perform</a:t>
            </a:r>
            <a:r>
              <a:rPr lang="vi-VN" b="1" dirty="0" smtClean="0">
                <a:latin typeface="+mj-lt"/>
              </a:rPr>
              <a:t>:</a:t>
            </a:r>
            <a:r>
              <a:rPr lang="en-US" b="1" dirty="0" smtClean="0">
                <a:latin typeface="+mj-lt"/>
              </a:rPr>
              <a:t> </a:t>
            </a:r>
            <a:r>
              <a:rPr lang="vi-VN" b="1" dirty="0" smtClean="0">
                <a:latin typeface="+mj-lt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NGUYỄN THỊ THÚY HOAN – 24IT074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05B88C-AD26-7401-8144-64771AAA061C}"/>
              </a:ext>
            </a:extLst>
          </p:cNvPr>
          <p:cNvSpPr txBox="1"/>
          <p:nvPr/>
        </p:nvSpPr>
        <p:spPr>
          <a:xfrm>
            <a:off x="5381571" y="6391656"/>
            <a:ext cx="2358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Da Nang</a:t>
            </a:r>
            <a:r>
              <a:rPr lang="vi-VN" dirty="0" smtClean="0">
                <a:latin typeface="+mj-lt"/>
              </a:rPr>
              <a:t>, </a:t>
            </a:r>
            <a:r>
              <a:rPr lang="en-US" dirty="0" smtClean="0">
                <a:latin typeface="+mj-lt"/>
              </a:rPr>
              <a:t>June</a:t>
            </a:r>
            <a:r>
              <a:rPr lang="vi-VN" dirty="0" smtClean="0">
                <a:latin typeface="+mj-lt"/>
              </a:rPr>
              <a:t> 202</a:t>
            </a:r>
            <a:r>
              <a:rPr lang="en-US" dirty="0" smtClean="0">
                <a:latin typeface="+mj-lt"/>
              </a:rPr>
              <a:t>5</a:t>
            </a:r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FEEC04-36F6-49A5-8AF3-3F2DA1A1EF7D}"/>
              </a:ext>
            </a:extLst>
          </p:cNvPr>
          <p:cNvSpPr txBox="1"/>
          <p:nvPr/>
        </p:nvSpPr>
        <p:spPr>
          <a:xfrm>
            <a:off x="3922123" y="4649160"/>
            <a:ext cx="5363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+mj-lt"/>
              </a:rPr>
              <a:t>Class</a:t>
            </a:r>
            <a:r>
              <a:rPr lang="vi-VN" b="1" dirty="0">
                <a:latin typeface="+mj-lt"/>
              </a:rPr>
              <a:t>:</a:t>
            </a:r>
            <a:r>
              <a:rPr lang="en-US" b="1" dirty="0">
                <a:latin typeface="+mj-lt"/>
              </a:rPr>
              <a:t>          </a:t>
            </a:r>
            <a:r>
              <a:rPr lang="en-US" b="1" dirty="0" smtClean="0">
                <a:latin typeface="+mj-lt"/>
              </a:rPr>
              <a:t>   24GIT1</a:t>
            </a:r>
            <a:endParaRPr lang="en-US" b="1" dirty="0">
              <a:latin typeface="+mj-lt"/>
            </a:endParaRPr>
          </a:p>
          <a:p>
            <a:r>
              <a:rPr lang="en-US" b="1" dirty="0">
                <a:latin typeface="+mj-lt"/>
              </a:rPr>
              <a:t>Supervisor</a:t>
            </a:r>
            <a:r>
              <a:rPr lang="vi-VN" b="1" dirty="0">
                <a:latin typeface="+mj-lt"/>
              </a:rPr>
              <a:t>:</a:t>
            </a:r>
            <a:r>
              <a:rPr lang="en-US" b="1" dirty="0">
                <a:latin typeface="+mj-lt"/>
              </a:rPr>
              <a:t>     </a:t>
            </a:r>
            <a:r>
              <a:rPr lang="en-US" b="1" dirty="0" smtClean="0">
                <a:latin typeface="+mj-lt"/>
              </a:rPr>
              <a:t>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TS. NGUYỄN ĐỨC HIỂN</a:t>
            </a:r>
            <a:endParaRPr lang="vi-V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E079CB-5930-FE08-C356-E8C2D6D395CC}"/>
              </a:ext>
            </a:extLst>
          </p:cNvPr>
          <p:cNvSpPr txBox="1"/>
          <p:nvPr/>
        </p:nvSpPr>
        <p:spPr>
          <a:xfrm>
            <a:off x="4634113" y="3050448"/>
            <a:ext cx="4651979" cy="6390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en-US" sz="3200" b="1" kern="100" dirty="0"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TOPIC: </a:t>
            </a:r>
            <a:r>
              <a:rPr lang="en-US" sz="3200" b="1" kern="100" dirty="0" smtClean="0"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MEMORY-BOX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7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5C2042-D2FD-17A8-9F0B-D2D21F207392}"/>
              </a:ext>
            </a:extLst>
          </p:cNvPr>
          <p:cNvSpPr txBox="1"/>
          <p:nvPr/>
        </p:nvSpPr>
        <p:spPr>
          <a:xfrm>
            <a:off x="5349240" y="521208"/>
            <a:ext cx="31325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0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ED44413-1CE3-F33D-76D7-1D2292BDEA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3866923"/>
              </p:ext>
            </p:extLst>
          </p:nvPr>
        </p:nvGraphicFramePr>
        <p:xfrm>
          <a:off x="898939" y="1229094"/>
          <a:ext cx="10242826" cy="5019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18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24F500-2929-8484-4865-E57DA8D4A745}"/>
              </a:ext>
            </a:extLst>
          </p:cNvPr>
          <p:cNvSpPr txBox="1"/>
          <p:nvPr/>
        </p:nvSpPr>
        <p:spPr>
          <a:xfrm>
            <a:off x="587210" y="2459504"/>
            <a:ext cx="108565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en-US" sz="60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vi-VN" sz="6000" b="1" dirty="0">
                <a:solidFill>
                  <a:srgbClr val="FF0000"/>
                </a:solidFill>
                <a:latin typeface="+mj-lt"/>
              </a:rPr>
              <a:t>1</a:t>
            </a:r>
          </a:p>
          <a:p>
            <a:pPr lvl="0"/>
            <a:r>
              <a:rPr lang="en-US" sz="6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 INTRODUCTION</a:t>
            </a:r>
          </a:p>
        </p:txBody>
      </p:sp>
    </p:spTree>
    <p:extLst>
      <p:ext uri="{BB962C8B-B14F-4D97-AF65-F5344CB8AC3E}">
        <p14:creationId xmlns:p14="http://schemas.microsoft.com/office/powerpoint/2010/main" val="302684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5C2042-D2FD-17A8-9F0B-D2D21F207392}"/>
              </a:ext>
            </a:extLst>
          </p:cNvPr>
          <p:cNvSpPr txBox="1"/>
          <p:nvPr/>
        </p:nvSpPr>
        <p:spPr>
          <a:xfrm>
            <a:off x="4069080" y="557784"/>
            <a:ext cx="770736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SUBJECT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7A751E-26E8-E1BB-858B-20CF40D358BA}"/>
              </a:ext>
            </a:extLst>
          </p:cNvPr>
          <p:cNvSpPr txBox="1"/>
          <p:nvPr/>
        </p:nvSpPr>
        <p:spPr>
          <a:xfrm>
            <a:off x="1078992" y="1655064"/>
            <a:ext cx="489486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for choosing the topic</a:t>
            </a:r>
            <a:r>
              <a:rPr lang="vi-VN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2D87B-8E5F-658E-16CC-47DC7F31381B}"/>
              </a:ext>
            </a:extLst>
          </p:cNvPr>
          <p:cNvSpPr txBox="1"/>
          <p:nvPr/>
        </p:nvSpPr>
        <p:spPr>
          <a:xfrm>
            <a:off x="817419" y="2244489"/>
            <a:ext cx="5586927" cy="365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MemoryBox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 Digital Memory Keeper” was inspired by the need for a private space to store personal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notes without sharing them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Unlike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apps like Google Photos or Instagram that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public sharing,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MemoryBox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save memories with images and personal notes in a simple, offline, and user-friendly desktop app.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9237A5-74AF-45FC-11AB-302CC0229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346" y="2147507"/>
            <a:ext cx="53721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62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7A751E-26E8-E1BB-858B-20CF40D358BA}"/>
              </a:ext>
            </a:extLst>
          </p:cNvPr>
          <p:cNvSpPr txBox="1"/>
          <p:nvPr/>
        </p:nvSpPr>
        <p:spPr>
          <a:xfrm>
            <a:off x="1078992" y="1655064"/>
            <a:ext cx="319991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topic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FA495-D00F-4CE0-F688-F779C0D76C49}"/>
              </a:ext>
            </a:extLst>
          </p:cNvPr>
          <p:cNvSpPr txBox="1"/>
          <p:nvPr/>
        </p:nvSpPr>
        <p:spPr>
          <a:xfrm>
            <a:off x="536555" y="2246822"/>
            <a:ext cx="579663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MemoryBox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lets users store personal photos and notes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organize memories in one place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Unlike social media, it keeps your memories private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No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sharing, no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distractions.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works offline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It’s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secure, and always accessible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MemoryBox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calm, personal space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Perfect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reflection and emotional moments.</a:t>
            </a:r>
          </a:p>
        </p:txBody>
      </p:sp>
      <p:pic>
        <p:nvPicPr>
          <p:cNvPr id="3074" name="Picture 2" descr="Hình ảnh Ghim câu chuyện">
            <a:extLst>
              <a:ext uri="{FF2B5EF4-FFF2-40B4-BE49-F238E27FC236}">
                <a16:creationId xmlns:a16="http://schemas.microsoft.com/office/drawing/2014/main" id="{DB0A01DE-F88D-A9C2-9DF8-336AA8572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185" y="1771598"/>
            <a:ext cx="5302733" cy="4261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8DB02F-A73F-5A0E-B2CF-6F97940B324F}"/>
              </a:ext>
            </a:extLst>
          </p:cNvPr>
          <p:cNvSpPr txBox="1"/>
          <p:nvPr/>
        </p:nvSpPr>
        <p:spPr>
          <a:xfrm>
            <a:off x="4069080" y="557784"/>
            <a:ext cx="770736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SUBJECT</a:t>
            </a:r>
          </a:p>
        </p:txBody>
      </p:sp>
    </p:spTree>
    <p:extLst>
      <p:ext uri="{BB962C8B-B14F-4D97-AF65-F5344CB8AC3E}">
        <p14:creationId xmlns:p14="http://schemas.microsoft.com/office/powerpoint/2010/main" val="110337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7A751E-26E8-E1BB-858B-20CF40D358BA}"/>
              </a:ext>
            </a:extLst>
          </p:cNvPr>
          <p:cNvSpPr txBox="1"/>
          <p:nvPr/>
        </p:nvSpPr>
        <p:spPr>
          <a:xfrm>
            <a:off x="1078992" y="1655064"/>
            <a:ext cx="300499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FA495-D00F-4CE0-F688-F779C0D76C49}"/>
              </a:ext>
            </a:extLst>
          </p:cNvPr>
          <p:cNvSpPr txBox="1"/>
          <p:nvPr/>
        </p:nvSpPr>
        <p:spPr>
          <a:xfrm>
            <a:off x="215070" y="2298287"/>
            <a:ext cx="544196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vi-VN" sz="2200" dirty="0">
                <a:latin typeface="+mj-lt"/>
              </a:rPr>
              <a:t>Java: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used for application logic and data processing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JavaFx</a:t>
            </a:r>
            <a:r>
              <a:rPr lang="vi-V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GUI toolkit with built-in components.</a:t>
            </a:r>
          </a:p>
          <a:p>
            <a:pPr marL="800100" lvl="1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MySQL/SQL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:  database</a:t>
            </a:r>
          </a:p>
          <a:p>
            <a:pPr marL="800100" lvl="1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Supports localhost installation for the device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Eclipse: an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IDE used mainly for Java development.</a:t>
            </a:r>
          </a:p>
        </p:txBody>
      </p:sp>
      <p:pic>
        <p:nvPicPr>
          <p:cNvPr id="3074" name="Picture 2" descr="Why Java is a popular programming language | TechGig">
            <a:extLst>
              <a:ext uri="{FF2B5EF4-FFF2-40B4-BE49-F238E27FC236}">
                <a16:creationId xmlns:a16="http://schemas.microsoft.com/office/drawing/2014/main" id="{C1F647C7-A429-E2AB-F5C4-675BCBE23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489" y="1639178"/>
            <a:ext cx="2485073" cy="138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0D92E5-230B-64B9-26E1-06FA850B718B}"/>
              </a:ext>
            </a:extLst>
          </p:cNvPr>
          <p:cNvSpPr txBox="1"/>
          <p:nvPr/>
        </p:nvSpPr>
        <p:spPr>
          <a:xfrm>
            <a:off x="4069080" y="557784"/>
            <a:ext cx="770736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SUBJECT</a:t>
            </a:r>
          </a:p>
        </p:txBody>
      </p:sp>
      <p:pic>
        <p:nvPicPr>
          <p:cNvPr id="6" name="Picture 4" descr="Tutorial JavaFX - Jav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4997" y="1378976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What is JDBC? Understanding and Creating JDBC Connection">
            <a:extLst>
              <a:ext uri="{FF2B5EF4-FFF2-40B4-BE49-F238E27FC236}">
                <a16:creationId xmlns:a16="http://schemas.microsoft.com/office/drawing/2014/main" id="{8B421E20-29D4-97FE-F93D-92C7B2E4D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10" y="3383427"/>
            <a:ext cx="2743420" cy="134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XAMPP là gì? Tổng hợp kiến thức cơ bản về XAMPP | ATP Software">
            <a:extLst>
              <a:ext uri="{FF2B5EF4-FFF2-40B4-BE49-F238E27FC236}">
                <a16:creationId xmlns:a16="http://schemas.microsoft.com/office/drawing/2014/main" id="{04B6A9C6-8EBB-D3A0-4ED8-E57CDFBA4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577" y="3950476"/>
            <a:ext cx="1973670" cy="205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Eclipse: A Brief History - IRI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489" y="4851068"/>
            <a:ext cx="2671301" cy="1422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24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7A751E-26E8-E1BB-858B-20CF40D358BA}"/>
              </a:ext>
            </a:extLst>
          </p:cNvPr>
          <p:cNvSpPr txBox="1"/>
          <p:nvPr/>
        </p:nvSpPr>
        <p:spPr>
          <a:xfrm>
            <a:off x="1078992" y="1655064"/>
            <a:ext cx="157754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6FA495-D00F-4CE0-F688-F779C0D76C49}"/>
              </a:ext>
            </a:extLst>
          </p:cNvPr>
          <p:cNvSpPr txBox="1"/>
          <p:nvPr/>
        </p:nvSpPr>
        <p:spPr>
          <a:xfrm>
            <a:off x="0" y="2022817"/>
            <a:ext cx="7024255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MemoryBox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JavaFX desktop app for storing personal photos and notes securely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private space for memory keeping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cloud apps,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MemoryBox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 completely offline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Users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full control over their data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Material Design and supports photo uploads, note-taking, search, and thumbnail views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Users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also customize themes and edit their profile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data is stored in a MySQL database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reliability and scalability.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9189DE8-8AD4-5A71-2E24-704A2794C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255" y="1901285"/>
            <a:ext cx="4752191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72C002-BA3E-D097-6BB5-A3E559593C2E}"/>
              </a:ext>
            </a:extLst>
          </p:cNvPr>
          <p:cNvSpPr txBox="1"/>
          <p:nvPr/>
        </p:nvSpPr>
        <p:spPr>
          <a:xfrm>
            <a:off x="4069080" y="557784"/>
            <a:ext cx="7707366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SUBJECT</a:t>
            </a:r>
          </a:p>
        </p:txBody>
      </p:sp>
    </p:spTree>
    <p:extLst>
      <p:ext uri="{BB962C8B-B14F-4D97-AF65-F5344CB8AC3E}">
        <p14:creationId xmlns:p14="http://schemas.microsoft.com/office/powerpoint/2010/main" val="201989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7F8927-8E67-44A4-B847-74CD6778BB11}"/>
              </a:ext>
            </a:extLst>
          </p:cNvPr>
          <p:cNvSpPr txBox="1"/>
          <p:nvPr/>
        </p:nvSpPr>
        <p:spPr>
          <a:xfrm>
            <a:off x="2541635" y="2655992"/>
            <a:ext cx="710874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PART</a:t>
            </a:r>
            <a:r>
              <a:rPr lang="vi-VN" sz="6000" b="1" dirty="0">
                <a:solidFill>
                  <a:srgbClr val="FF0000"/>
                </a:solidFill>
                <a:latin typeface="+mj-lt"/>
              </a:rPr>
              <a:t> 2</a:t>
            </a:r>
          </a:p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ANALYSIS</a:t>
            </a:r>
            <a:endParaRPr lang="vi-V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893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7A751E-26E8-E1BB-858B-20CF40D358BA}"/>
              </a:ext>
            </a:extLst>
          </p:cNvPr>
          <p:cNvSpPr txBox="1"/>
          <p:nvPr/>
        </p:nvSpPr>
        <p:spPr>
          <a:xfrm>
            <a:off x="1078992" y="1655064"/>
            <a:ext cx="196079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600" b="1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US" sz="2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812376-DD73-B90A-95BB-14007DABFB0B}"/>
              </a:ext>
            </a:extLst>
          </p:cNvPr>
          <p:cNvSpPr txBox="1"/>
          <p:nvPr/>
        </p:nvSpPr>
        <p:spPr>
          <a:xfrm>
            <a:off x="5997170" y="594363"/>
            <a:ext cx="47981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ANALYSIS</a:t>
            </a:r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812479" y="2147507"/>
            <a:ext cx="8386939" cy="390005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328" y="1794692"/>
            <a:ext cx="2148999" cy="19467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9418" y="4094247"/>
            <a:ext cx="2132085" cy="136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2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7A751E-26E8-E1BB-858B-20CF40D358BA}"/>
              </a:ext>
            </a:extLst>
          </p:cNvPr>
          <p:cNvSpPr txBox="1"/>
          <p:nvPr/>
        </p:nvSpPr>
        <p:spPr>
          <a:xfrm>
            <a:off x="423511" y="1640356"/>
            <a:ext cx="5535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 of the system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41ABBC8-A854-B90C-7F89-E1CC958DE5D9}"/>
              </a:ext>
            </a:extLst>
          </p:cNvPr>
          <p:cNvCxnSpPr/>
          <p:nvPr/>
        </p:nvCxnSpPr>
        <p:spPr>
          <a:xfrm>
            <a:off x="740664" y="3035808"/>
            <a:ext cx="321868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108D0FA-3DC9-6A28-EF29-4C7419D2D645}"/>
              </a:ext>
            </a:extLst>
          </p:cNvPr>
          <p:cNvSpPr txBox="1"/>
          <p:nvPr/>
        </p:nvSpPr>
        <p:spPr>
          <a:xfrm>
            <a:off x="8655209" y="5638801"/>
            <a:ext cx="1767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to the app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3615E3-8FC4-ED6F-90B3-DB932ACBEAEF}"/>
              </a:ext>
            </a:extLst>
          </p:cNvPr>
          <p:cNvSpPr txBox="1"/>
          <p:nvPr/>
        </p:nvSpPr>
        <p:spPr>
          <a:xfrm>
            <a:off x="5997170" y="594363"/>
            <a:ext cx="47981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ANALYSIS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48" y="2333193"/>
            <a:ext cx="6328408" cy="330560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7085" y="2132799"/>
            <a:ext cx="3744104" cy="336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5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7A751E-26E8-E1BB-858B-20CF40D358BA}"/>
              </a:ext>
            </a:extLst>
          </p:cNvPr>
          <p:cNvSpPr txBox="1"/>
          <p:nvPr/>
        </p:nvSpPr>
        <p:spPr>
          <a:xfrm>
            <a:off x="1078992" y="1655064"/>
            <a:ext cx="470834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 of the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644827-10B6-BD13-8B9A-BC9ACF768B16}"/>
              </a:ext>
            </a:extLst>
          </p:cNvPr>
          <p:cNvSpPr txBox="1"/>
          <p:nvPr/>
        </p:nvSpPr>
        <p:spPr>
          <a:xfrm>
            <a:off x="5997170" y="594363"/>
            <a:ext cx="47981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ANALYSIS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10" y="2147507"/>
            <a:ext cx="6990657" cy="16585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224" y="1302249"/>
            <a:ext cx="3065670" cy="45226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332537" y="5932116"/>
            <a:ext cx="1834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</a:t>
            </a:r>
            <a:r>
              <a:rPr lang="en-US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400" y="3422073"/>
            <a:ext cx="3115245" cy="28793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76" y="3806041"/>
            <a:ext cx="3468245" cy="276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0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7A751E-26E8-E1BB-858B-20CF40D358BA}"/>
              </a:ext>
            </a:extLst>
          </p:cNvPr>
          <p:cNvSpPr txBox="1"/>
          <p:nvPr/>
        </p:nvSpPr>
        <p:spPr>
          <a:xfrm>
            <a:off x="423511" y="1640356"/>
            <a:ext cx="553549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 of the system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41ABBC8-A854-B90C-7F89-E1CC958DE5D9}"/>
              </a:ext>
            </a:extLst>
          </p:cNvPr>
          <p:cNvCxnSpPr/>
          <p:nvPr/>
        </p:nvCxnSpPr>
        <p:spPr>
          <a:xfrm>
            <a:off x="740664" y="3035808"/>
            <a:ext cx="321868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83615E3-8FC4-ED6F-90B3-DB932ACBEAEF}"/>
              </a:ext>
            </a:extLst>
          </p:cNvPr>
          <p:cNvSpPr txBox="1"/>
          <p:nvPr/>
        </p:nvSpPr>
        <p:spPr>
          <a:xfrm>
            <a:off x="5997170" y="594363"/>
            <a:ext cx="47981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ANALYSIS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30" y="2301105"/>
            <a:ext cx="4768724" cy="21759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08D0FA-3DC9-6A28-EF29-4C7419D2D645}"/>
              </a:ext>
            </a:extLst>
          </p:cNvPr>
          <p:cNvSpPr txBox="1"/>
          <p:nvPr/>
        </p:nvSpPr>
        <p:spPr>
          <a:xfrm>
            <a:off x="1833583" y="4751728"/>
            <a:ext cx="2361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switch button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072" y="1302249"/>
            <a:ext cx="2731273" cy="228340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5490" y="3866269"/>
            <a:ext cx="3065275" cy="250958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993" y="3035808"/>
            <a:ext cx="2705100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55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F9A33C-FB07-D869-EC32-E9E17BA967E2}"/>
              </a:ext>
            </a:extLst>
          </p:cNvPr>
          <p:cNvSpPr txBox="1"/>
          <p:nvPr/>
        </p:nvSpPr>
        <p:spPr>
          <a:xfrm>
            <a:off x="0" y="2406377"/>
            <a:ext cx="116757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000" b="1" dirty="0">
                <a:solidFill>
                  <a:srgbClr val="FF0000"/>
                </a:solidFill>
                <a:latin typeface="+mj-lt"/>
              </a:rPr>
              <a:t>P</a:t>
            </a:r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vi-VN" sz="60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vi-VN" sz="6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vi-V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26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5C2042-D2FD-17A8-9F0B-D2D21F207392}"/>
              </a:ext>
            </a:extLst>
          </p:cNvPr>
          <p:cNvSpPr txBox="1"/>
          <p:nvPr/>
        </p:nvSpPr>
        <p:spPr>
          <a:xfrm>
            <a:off x="3552004" y="533143"/>
            <a:ext cx="8779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7A751E-26E8-E1BB-858B-20CF40D358BA}"/>
              </a:ext>
            </a:extLst>
          </p:cNvPr>
          <p:cNvSpPr txBox="1"/>
          <p:nvPr/>
        </p:nvSpPr>
        <p:spPr>
          <a:xfrm>
            <a:off x="2444277" y="1289957"/>
            <a:ext cx="190629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4200E4-E339-C4C8-276B-DA571F5AA499}"/>
              </a:ext>
            </a:extLst>
          </p:cNvPr>
          <p:cNvCxnSpPr>
            <a:cxnSpLocks/>
          </p:cNvCxnSpPr>
          <p:nvPr/>
        </p:nvCxnSpPr>
        <p:spPr>
          <a:xfrm>
            <a:off x="1053345" y="2865790"/>
            <a:ext cx="249865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5531D92-6743-EA8D-2EAD-97DF286F5A2B}"/>
              </a:ext>
            </a:extLst>
          </p:cNvPr>
          <p:cNvSpPr txBox="1"/>
          <p:nvPr/>
        </p:nvSpPr>
        <p:spPr>
          <a:xfrm>
            <a:off x="1148689" y="2445770"/>
            <a:ext cx="10612182" cy="1438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app features a modern and user-friendly interface built with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JavaFX.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photo and video uploads, note-taking, tagging, quick search, and theme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make memory management simple, smooth, and personalized.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10A789-0DC2-EAD0-D926-5ADEECB01C06}"/>
              </a:ext>
            </a:extLst>
          </p:cNvPr>
          <p:cNvSpPr txBox="1"/>
          <p:nvPr/>
        </p:nvSpPr>
        <p:spPr>
          <a:xfrm>
            <a:off x="1326991" y="1904807"/>
            <a:ext cx="154561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361720-10C8-DAAE-BC5D-34B359883C3B}"/>
              </a:ext>
            </a:extLst>
          </p:cNvPr>
          <p:cNvSpPr txBox="1"/>
          <p:nvPr/>
        </p:nvSpPr>
        <p:spPr>
          <a:xfrm>
            <a:off x="1326991" y="4265587"/>
            <a:ext cx="195136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A66766-93BF-6BA8-7724-2F22C891B998}"/>
              </a:ext>
            </a:extLst>
          </p:cNvPr>
          <p:cNvSpPr txBox="1"/>
          <p:nvPr/>
        </p:nvSpPr>
        <p:spPr>
          <a:xfrm>
            <a:off x="1053345" y="4768078"/>
            <a:ext cx="108028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app currently supports only a single user and does not sync across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devices.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decrease when handling large photo or video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such as encryption and multi-factor authentication are not yet available.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5557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7A751E-26E8-E1BB-858B-20CF40D358BA}"/>
              </a:ext>
            </a:extLst>
          </p:cNvPr>
          <p:cNvSpPr txBox="1"/>
          <p:nvPr/>
        </p:nvSpPr>
        <p:spPr>
          <a:xfrm>
            <a:off x="813816" y="1771874"/>
            <a:ext cx="484904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directions and Solutions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101BF325-B2B7-8D29-FB56-B944DB713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4951" y="1771874"/>
            <a:ext cx="5923452" cy="455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28D55E-3AAA-E23D-B8E2-26FC51257410}"/>
              </a:ext>
            </a:extLst>
          </p:cNvPr>
          <p:cNvSpPr txBox="1"/>
          <p:nvPr/>
        </p:nvSpPr>
        <p:spPr>
          <a:xfrm>
            <a:off x="3552004" y="533143"/>
            <a:ext cx="8779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3907" y="2630047"/>
            <a:ext cx="5471044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multi-user support and cross-device syncing for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to handle large media files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smoothly.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with encryption and multi-factor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for auto-tagging and smart face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 albums, social sharing, and cloud sync features.</a:t>
            </a:r>
          </a:p>
        </p:txBody>
      </p:sp>
    </p:spTree>
    <p:extLst>
      <p:ext uri="{BB962C8B-B14F-4D97-AF65-F5344CB8AC3E}">
        <p14:creationId xmlns:p14="http://schemas.microsoft.com/office/powerpoint/2010/main" val="232824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F9A33C-FB07-D869-EC32-E9E17BA967E2}"/>
              </a:ext>
            </a:extLst>
          </p:cNvPr>
          <p:cNvSpPr txBox="1"/>
          <p:nvPr/>
        </p:nvSpPr>
        <p:spPr>
          <a:xfrm>
            <a:off x="748146" y="2544922"/>
            <a:ext cx="116757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000" b="1" dirty="0">
                <a:solidFill>
                  <a:srgbClr val="FF0000"/>
                </a:solidFill>
                <a:latin typeface="+mj-lt"/>
              </a:rPr>
              <a:t>P</a:t>
            </a:r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vi-VN" sz="60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6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vi-VN" sz="6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66327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5C2042-D2FD-17A8-9F0B-D2D21F207392}"/>
              </a:ext>
            </a:extLst>
          </p:cNvPr>
          <p:cNvSpPr txBox="1"/>
          <p:nvPr/>
        </p:nvSpPr>
        <p:spPr>
          <a:xfrm>
            <a:off x="3552004" y="533143"/>
            <a:ext cx="8779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7A751E-26E8-E1BB-858B-20CF40D358BA}"/>
              </a:ext>
            </a:extLst>
          </p:cNvPr>
          <p:cNvSpPr txBox="1"/>
          <p:nvPr/>
        </p:nvSpPr>
        <p:spPr>
          <a:xfrm>
            <a:off x="1294350" y="1807188"/>
            <a:ext cx="262604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Achievements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4200E4-E339-C4C8-276B-DA571F5AA499}"/>
              </a:ext>
            </a:extLst>
          </p:cNvPr>
          <p:cNvCxnSpPr>
            <a:cxnSpLocks/>
          </p:cNvCxnSpPr>
          <p:nvPr/>
        </p:nvCxnSpPr>
        <p:spPr>
          <a:xfrm>
            <a:off x="1053345" y="2865790"/>
            <a:ext cx="2498658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5531D92-6743-EA8D-2EAD-97DF286F5A2B}"/>
              </a:ext>
            </a:extLst>
          </p:cNvPr>
          <p:cNvSpPr txBox="1"/>
          <p:nvPr/>
        </p:nvSpPr>
        <p:spPr>
          <a:xfrm>
            <a:off x="1053344" y="2371975"/>
            <a:ext cx="96677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app has a modern, user-friendly interface built with JavaFX.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photo/video uploads, notes, tagging, search, and themes.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features make memory management easy and personal.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31D92-6743-EA8D-2EAD-97DF286F5A2B}"/>
              </a:ext>
            </a:extLst>
          </p:cNvPr>
          <p:cNvSpPr txBox="1"/>
          <p:nvPr/>
        </p:nvSpPr>
        <p:spPr>
          <a:xfrm>
            <a:off x="1053344" y="4832815"/>
            <a:ext cx="9667757" cy="1438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only one user and lacks multi-device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syncing.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slow down with large media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or multi-factor authentication implemented yet.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A751E-26E8-E1BB-858B-20CF40D358BA}"/>
              </a:ext>
            </a:extLst>
          </p:cNvPr>
          <p:cNvSpPr txBox="1"/>
          <p:nvPr/>
        </p:nvSpPr>
        <p:spPr>
          <a:xfrm>
            <a:off x="1294350" y="4150602"/>
            <a:ext cx="229582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369689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24F500-2929-8484-4865-E57DA8D4A745}"/>
              </a:ext>
            </a:extLst>
          </p:cNvPr>
          <p:cNvSpPr txBox="1"/>
          <p:nvPr/>
        </p:nvSpPr>
        <p:spPr>
          <a:xfrm>
            <a:off x="3096442" y="2459504"/>
            <a:ext cx="654775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6000" b="1" dirty="0">
                <a:latin typeface="+mj-lt"/>
              </a:rPr>
              <a:t>THANK YOU</a:t>
            </a:r>
          </a:p>
          <a:p>
            <a:r>
              <a:rPr lang="vi-VN" sz="6000" b="1" dirty="0">
                <a:solidFill>
                  <a:srgbClr val="FF0000"/>
                </a:solidFill>
                <a:latin typeface="+mj-lt"/>
              </a:rPr>
              <a:t>FOR WATCHING!</a:t>
            </a:r>
            <a:endParaRPr lang="en-US" sz="60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5423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1080</TotalTime>
  <Words>587</Words>
  <Application>Microsoft Office PowerPoint</Application>
  <PresentationFormat>Widescreen</PresentationFormat>
  <Paragraphs>85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Tahoma</vt:lpstr>
      <vt:lpstr>Times New Roman</vt:lpstr>
      <vt:lpstr>Wingdings</vt:lpstr>
      <vt:lpstr>Office Theme</vt:lpstr>
      <vt:lpstr>VIETNAM - KOREA UNIVERSITY OF INFORMATION AND COMMUNICATION TECHNOLOGY  DEPARTMENT OF COMPUTER SCIENCE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HỌC ĐÀ NẴNG TRƯỜNG ĐẠI HỌC CÔNG NGHỆ THÔNG TIN VÀ TRUYỀN THÔNG VIỆT – HÀN KHOA KHOA HỌC MÁY TÍNH </dc:title>
  <dc:creator>Trịnh Thị Thanh Thảo</dc:creator>
  <cp:lastModifiedBy>Admin</cp:lastModifiedBy>
  <cp:revision>27</cp:revision>
  <dcterms:created xsi:type="dcterms:W3CDTF">2024-05-30T12:34:31Z</dcterms:created>
  <dcterms:modified xsi:type="dcterms:W3CDTF">2025-06-26T01:52:00Z</dcterms:modified>
</cp:coreProperties>
</file>